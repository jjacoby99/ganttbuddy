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8_84ADCD7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67" r:id="rId2"/>
    <p:sldId id="261" r:id="rId3"/>
    <p:sldId id="281" r:id="rId4"/>
    <p:sldId id="288" r:id="rId5"/>
    <p:sldId id="264" r:id="rId6"/>
    <p:sldId id="282" r:id="rId7"/>
    <p:sldId id="368" r:id="rId8"/>
    <p:sldId id="265" r:id="rId9"/>
    <p:sldId id="286" r:id="rId10"/>
    <p:sldId id="283" r:id="rId11"/>
    <p:sldId id="370" r:id="rId12"/>
    <p:sldId id="287" r:id="rId13"/>
    <p:sldId id="290" r:id="rId14"/>
    <p:sldId id="371" r:id="rId15"/>
    <p:sldId id="258" r:id="rId16"/>
    <p:sldId id="277" r:id="rId17"/>
    <p:sldId id="369" r:id="rId18"/>
    <p:sldId id="2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4FB4C6-E75F-C8A4-6995-356A0D6EEE4C}" name="Josh Jacoby" initials="JJ" userId="S::Josh.Jacoby@teck.com::d64b4ab7-8a50-4de0-84cc-f35dd7a6e9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61D5AE"/>
    <a:srgbClr val="2A9E77"/>
    <a:srgbClr val="F4B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48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8_84ADCD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0D9597A-8410-4882-B41E-51224BEB3B13}" authorId="{E54FB4C6-E75F-C8A4-6995-356A0D6EEE4C}" created="2026-02-24T18:20:01.9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25982832" sldId="264"/>
      <ac:spMk id="3" creationId="{9B5E7D54-698F-3555-AAED-14EE425518A3}"/>
      <ac:txMk cp="63" len="442">
        <ac:context len="509" hash="3169674777"/>
      </ac:txMk>
    </ac:txMkLst>
    <p188:pos x="6454879" y="821733"/>
    <p188:txBody>
      <a:bodyPr/>
      <a:lstStyle/>
      <a:p>
        <a:r>
          <a:rPr lang="en-CA"/>
          <a:t>Manually edit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A804-779D-438E-A11F-45B70B75ADCA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9D570-26EC-4610-882F-68E6D16D2B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485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0793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11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B02F-B483-ACE8-634D-A9FDBF70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FBDDE-FB47-B7D2-9E26-4802249D5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96627-CBDB-17CC-B748-3926E336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519CD-5662-DA13-A0F9-F45A8ECAA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1824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092E-4100-4157-8858-A8859195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BF3CE-D5FE-0620-961E-66CAE2E42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3BEFD-D7D3-3A02-3EA6-ADA5D6275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21878-A023-265B-8CBF-777391E8B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0839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3D84-62FC-5344-AD59-3AFD9769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D108D-792E-7CD3-CC35-C635668B7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A41D6-41B2-1159-6B81-E62704FEE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0FD8-1461-4DD4-7A70-75BC97F49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50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CCF3-7F03-B46A-634C-9EF8A778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98790-6933-ABB5-6CD0-BF16F466A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2D421-43F8-F076-4CBD-05DC4806A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7447-3EB0-3A75-10D2-F0B74D2C7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9D570-26EC-4610-882F-68E6D16D2B2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654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6C09-8DD7-1F81-79F2-1FFDAB6D2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924AC-FBD5-9D21-7A4B-314ED9155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88A7-824F-F9FC-418C-0DF97DE1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853BC-2868-9C09-2B09-8DDC5219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E467-A14B-7775-AC86-5EC5BC19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756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D9BF-A072-9D5E-7E2F-15B114B3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069D-8034-3A6D-9280-C3202E2ED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9EC8-58DE-CC7A-288F-D168F516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CA7DB-F6F9-6F77-8073-ACEA0D1B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157B6-0224-1BF6-F7E9-CD2BB3E3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076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1B0C-5BCF-1D34-2E67-B426E3E8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B5BA7-30E9-CA23-CAC6-AEA762CAB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702AD-CCFC-E9BD-FFD2-98BD609E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DBB75-C717-3135-4057-2B8DB163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E6B79-896C-ACB4-7064-1A8E1CA6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188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3336-BE28-7FF4-3B4C-F0551A3E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9EE7-78C6-3BDB-53CC-C06C7945B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2AEE1-EA55-94D6-3C29-A4BFE9CD4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50DE7-8677-90CE-B1B3-DBA6A134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8E423-230B-4A3C-3F64-AEC65D8C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11BD0-761A-3F75-86D9-9EF4ED6A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474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7532-CC6C-2852-B31F-9F9DA0C56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9EC1-61F8-1B31-A4B5-78746E09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29C60-87E1-D6B8-41EC-C0E91A495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618FB-541D-CDD1-706E-F9C837B4B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2FACA-4271-9CFA-FE85-EDA9DC31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E8EC5-2456-F680-4403-8153DAAE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B8CD8-D733-1113-0C05-823A01C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603C1-246F-446E-3100-300FB19A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48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102B-C094-E380-81FC-BE37328F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FE96A-D0EE-5E2F-316C-10F5CE49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EDC90-5A5C-5FB4-785F-E9F86279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D525C-2F43-54D4-859C-1CC54A1B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229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E4A6F-58DF-170E-7FAB-68906F1D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23E32-4ECB-6FA0-846D-C69C3920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7554A-95B0-2494-B8EE-D383F604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247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07A5-5349-9BA9-6B93-3F393E21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19654-7FE5-BEA7-FC5F-32DAFE28E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25B20-4E9E-C766-CA71-DCF65CCCB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0EFEA-99F7-28BA-14AC-7C202379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922FA-F7F1-1B4E-35B8-EDB8A3D3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DEBA6-CE6B-EAFF-A086-8DAC4538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349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A132-B5E0-6FC7-73D3-11C8633F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560A0-D82C-1AEE-3885-0F4D5D23B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614E0-093F-22E6-6602-04398CF8D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9A0EA-F26E-0EFA-84B5-1B018D8E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FAD02-D61C-A07E-60DA-A5B95447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975CB-3BF7-6926-D07D-F66601E3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49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0421-39E3-7723-EB0E-1ECDD545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AD5C2-33CC-2C0B-91B9-A760B13B2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D0B1-7D51-9B7A-2F09-D53555FB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CA4E5-AC42-0228-9FB0-A1D45D22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5C09C-B5F1-04F2-8111-04063E1F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133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BD007-58E5-E88F-D68E-9327EE827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A3748-29D2-5D9E-4058-41BE6C9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50DE-21C1-0962-5715-90EBBAD1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067D1-C663-18C9-4114-69CE39ED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DA88-E4EE-90F0-0B58-FDD4F6C4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598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-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6">
            <a:extLst>
              <a:ext uri="{FF2B5EF4-FFF2-40B4-BE49-F238E27FC236}">
                <a16:creationId xmlns:a16="http://schemas.microsoft.com/office/drawing/2014/main" id="{248595CE-C4DA-7694-66E8-31E3143D59CB}"/>
              </a:ext>
            </a:extLst>
          </p:cNvPr>
          <p:cNvSpPr/>
          <p:nvPr userDrawn="1"/>
        </p:nvSpPr>
        <p:spPr>
          <a:xfrm>
            <a:off x="-83694" y="861394"/>
            <a:ext cx="7056548" cy="5135217"/>
          </a:xfrm>
          <a:custGeom>
            <a:avLst/>
            <a:gdLst>
              <a:gd name="connsiteX0" fmla="*/ 5187457 w 7056548"/>
              <a:gd name="connsiteY0" fmla="*/ 5135217 h 5135217"/>
              <a:gd name="connsiteX1" fmla="*/ 8369 w 7056548"/>
              <a:gd name="connsiteY1" fmla="*/ 5135217 h 5135217"/>
              <a:gd name="connsiteX2" fmla="*/ 0 w 7056548"/>
              <a:gd name="connsiteY2" fmla="*/ 0 h 5135217"/>
              <a:gd name="connsiteX3" fmla="*/ 7056549 w 7056548"/>
              <a:gd name="connsiteY3" fmla="*/ 0 h 5135217"/>
              <a:gd name="connsiteX4" fmla="*/ 5187457 w 7056548"/>
              <a:gd name="connsiteY4" fmla="*/ 5135217 h 513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6548" h="5135217">
                <a:moveTo>
                  <a:pt x="5187457" y="5135217"/>
                </a:moveTo>
                <a:lnTo>
                  <a:pt x="8369" y="5135217"/>
                </a:lnTo>
                <a:lnTo>
                  <a:pt x="0" y="0"/>
                </a:lnTo>
                <a:lnTo>
                  <a:pt x="7056549" y="0"/>
                </a:lnTo>
                <a:lnTo>
                  <a:pt x="5187457" y="513521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B20D3-40EF-DE66-8F6A-18BD7A192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60" y="1264582"/>
            <a:ext cx="934849" cy="373940"/>
          </a:xfrm>
          <a:prstGeom prst="rect">
            <a:avLst/>
          </a:prstGeom>
        </p:spPr>
      </p:pic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06C33192-D49D-C9C7-ED18-80A3FDA3FA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291" y="4907801"/>
            <a:ext cx="4173519" cy="23844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January 1, 2024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F77D69E-7E96-8CD0-E912-8DED74944F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291" y="5204561"/>
            <a:ext cx="4173519" cy="562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Presenter Title</a:t>
            </a:r>
          </a:p>
        </p:txBody>
      </p:sp>
      <p:sp>
        <p:nvSpPr>
          <p:cNvPr id="11" name="Title 13">
            <a:extLst>
              <a:ext uri="{FF2B5EF4-FFF2-40B4-BE49-F238E27FC236}">
                <a16:creationId xmlns:a16="http://schemas.microsoft.com/office/drawing/2014/main" id="{7B6BDF2D-496E-C936-DEB6-5EAA5506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59" y="3115144"/>
            <a:ext cx="4637124" cy="15323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lang="en-US" sz="4000" b="0" i="0" kern="1200" cap="all" baseline="0">
                <a:solidFill>
                  <a:srgbClr val="FFFFF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pPr marL="0" lv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Click to edit Master title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18181D1-C85A-77FB-4194-4D9A9F12DB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289" y="2008659"/>
            <a:ext cx="4637088" cy="110648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4000" cap="all" baseline="0">
                <a:solidFill>
                  <a:schemeClr val="bg2"/>
                </a:solidFill>
              </a:defRPr>
            </a:lvl1pPr>
            <a:lvl2pPr marL="457178" indent="0">
              <a:buNone/>
              <a:defRPr sz="4000" cap="all" baseline="0">
                <a:solidFill>
                  <a:schemeClr val="bg2"/>
                </a:solidFill>
              </a:defRPr>
            </a:lvl2pPr>
            <a:lvl3pPr marL="914354" indent="0">
              <a:buNone/>
              <a:defRPr sz="4000" cap="all" baseline="0">
                <a:solidFill>
                  <a:schemeClr val="bg2"/>
                </a:solidFill>
              </a:defRPr>
            </a:lvl3pPr>
            <a:lvl4pPr marL="1371532" indent="0">
              <a:buNone/>
              <a:defRPr sz="4000" cap="all" baseline="0">
                <a:solidFill>
                  <a:schemeClr val="bg2"/>
                </a:solidFill>
              </a:defRPr>
            </a:lvl4pPr>
            <a:lvl5pPr marL="1828709" indent="0">
              <a:buNone/>
              <a:defRPr sz="4000" cap="all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8268D9-95FD-6625-E4C8-AE3F89608B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996607 h 6858000"/>
              <a:gd name="connsiteX5" fmla="*/ 5103762 w 12192000"/>
              <a:gd name="connsiteY5" fmla="*/ 5996607 h 6858000"/>
              <a:gd name="connsiteX6" fmla="*/ 6972854 w 12192000"/>
              <a:gd name="connsiteY6" fmla="*/ 861390 h 6858000"/>
              <a:gd name="connsiteX7" fmla="*/ 0 w 12192000"/>
              <a:gd name="connsiteY7" fmla="*/ 8613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996607"/>
                </a:lnTo>
                <a:lnTo>
                  <a:pt x="5103762" y="5996607"/>
                </a:lnTo>
                <a:lnTo>
                  <a:pt x="6972854" y="861390"/>
                </a:lnTo>
                <a:lnTo>
                  <a:pt x="0" y="8613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6766560" anchor="ctr" anchorCtr="0">
            <a:no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  <a:br>
              <a:rPr lang="en-US"/>
            </a:br>
            <a:r>
              <a:rPr lang="en-US"/>
              <a:t>Use crop function </a:t>
            </a:r>
            <a:br>
              <a:rPr lang="en-US"/>
            </a:br>
            <a:r>
              <a:rPr lang="en-US"/>
              <a:t>to position and scale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75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2122F-7609-3B61-A366-7B6D6C5C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EE29B-E4AF-8701-B98D-39AE02007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28E1A-AD6F-B3CE-9628-7513BDA7B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10AC8-C3A3-4A96-8055-71EA3A67FF59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A52B-04A6-6CB6-826D-9B95EDCC7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79CF-A6B1-6BD1-ECA6-7078C5BA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BA1C8-6287-4B75-A778-031EEB034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671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84ADCD7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068E-8D2A-122A-C1AF-25CFE1D1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6E8AF9-A9F4-31DC-F686-0E9207C7AA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&lt;CREATION_DATE&gt;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CE1A0A51-E09A-BF12-111D-0902BA52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91" y="2662821"/>
            <a:ext cx="4637124" cy="1532357"/>
          </a:xfrm>
        </p:spPr>
        <p:txBody>
          <a:bodyPr/>
          <a:lstStyle/>
          <a:p>
            <a:r>
              <a:rPr lang="en-US" sz="3200" dirty="0"/>
              <a:t>&lt;PROJECT_TITLE&gt; report</a:t>
            </a:r>
            <a:br>
              <a:rPr lang="en-US" sz="3200" dirty="0"/>
            </a:br>
            <a:r>
              <a:rPr lang="en-US" sz="3200" dirty="0"/>
              <a:t>&lt;MONTH&gt; &lt;YEAR&gt;</a:t>
            </a:r>
          </a:p>
        </p:txBody>
      </p:sp>
      <p:pic>
        <p:nvPicPr>
          <p:cNvPr id="13" name="Picture Placeholder 12" descr="A person in a safety vest&#10;&#10;Description automatically generated">
            <a:extLst>
              <a:ext uri="{FF2B5EF4-FFF2-40B4-BE49-F238E27FC236}">
                <a16:creationId xmlns:a16="http://schemas.microsoft.com/office/drawing/2014/main" id="{A796D820-E9F4-CF87-16D6-37D77626416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9909787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5C108-AE60-2965-5B66-F7808BB7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5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&lt;PROJECT_TITLE&gt; Report – &lt;MONTH&gt; &lt;YEAR&gt;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A5409-578C-889E-1F9C-B62FA88A6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5" y="1882504"/>
            <a:ext cx="9724031" cy="309299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chemeClr val="accent1"/>
                </a:solidFill>
              </a:rPr>
              <a:t>SUMMARY</a:t>
            </a:r>
            <a:endParaRPr lang="en-CA" sz="2000" dirty="0"/>
          </a:p>
          <a:p>
            <a:pPr marL="0" indent="0">
              <a:buNone/>
            </a:pPr>
            <a:r>
              <a:rPr lang="en-CA" sz="2000" dirty="0"/>
              <a:t>The &lt;MILL_NAME&gt; reline was scheduled for &lt;MONTH&gt; &lt;START_DAY&gt;-&lt;END_DAY&gt;. 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94DFA1BC-CFDF-7AA5-F9C1-AF979D1D1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2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FBE0C-7CC0-9DBB-041A-A339C735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01976EB-FC2A-9068-3742-6BB3ECC50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C9D4FD-E735-E76B-1D7A-31C9E504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EE3472-76F7-6804-C3A6-298FA2D92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EC1BF4-1BCD-355E-E5CF-2A2D1507A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A96867-7B15-99B3-BBE9-62B7FCF8D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92B8628-3278-EB3B-F4BB-34799D5DA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6BAC11-2B86-81C3-5B51-0A1D194F7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77318-41F5-2DA0-2F92-117B14BF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2501984"/>
            <a:ext cx="3201366" cy="1833036"/>
          </a:xfrm>
        </p:spPr>
        <p:txBody>
          <a:bodyPr anchor="ctr">
            <a:normAutofit/>
          </a:bodyPr>
          <a:lstStyle/>
          <a:p>
            <a:pPr algn="ctr"/>
            <a:r>
              <a:rPr lang="en-CA" sz="4000" dirty="0">
                <a:solidFill>
                  <a:srgbClr val="FFFFFF"/>
                </a:solidFill>
              </a:rPr>
              <a:t>High Level Summary of Delays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AA45-F5C2-8130-6182-85540D0D2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2000" b="1"/>
              <a:t>The &lt;TOTAL_DELAY_HOURS&gt;-</a:t>
            </a:r>
            <a:r>
              <a:rPr lang="en-CA" sz="2000" b="1" dirty="0"/>
              <a:t>hour delay was primarily caused by :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2000" dirty="0">
                <a:highlight>
                  <a:srgbClr val="FFFF00"/>
                </a:highlight>
              </a:rPr>
              <a:t>Manually fill in summary.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C2DC4A81-183B-BBC1-61E5-420017EAB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9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0DAC8-8B59-E0D0-C02C-36E69897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B21D6BB-801D-8B68-05FC-E68A3FCF4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5EA4F-EF35-552C-2527-2F504F21C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284CC-BA00-A20C-EEB1-FA6A11D9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DE3A03-97CD-1D27-B462-E2366911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94420FE-0E89-A10E-4FF2-51BFC8329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6095335"/>
            <a:ext cx="939848" cy="5842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66D251-4D2D-755A-D8E3-E8B5685FE6E3}"/>
              </a:ext>
            </a:extLst>
          </p:cNvPr>
          <p:cNvSpPr txBox="1"/>
          <p:nvPr/>
        </p:nvSpPr>
        <p:spPr>
          <a:xfrm>
            <a:off x="699712" y="248038"/>
            <a:ext cx="101968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Delays by Type</a:t>
            </a:r>
          </a:p>
        </p:txBody>
      </p:sp>
    </p:spTree>
    <p:extLst>
      <p:ext uri="{BB962C8B-B14F-4D97-AF65-F5344CB8AC3E}">
        <p14:creationId xmlns:p14="http://schemas.microsoft.com/office/powerpoint/2010/main" val="233504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1B2A8-3DCC-D8A0-D56B-78313708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EB57E-B12C-4373-6B5D-97F094CF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E7D54-698F-3555-AAED-14EE4255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3" y="1891970"/>
            <a:ext cx="6533537" cy="4680718"/>
          </a:xfrm>
        </p:spPr>
        <p:txBody>
          <a:bodyPr anchor="t">
            <a:normAutofit/>
          </a:bodyPr>
          <a:lstStyle/>
          <a:p>
            <a:pPr marL="457200" lvl="1" indent="0">
              <a:buNone/>
            </a:pPr>
            <a:r>
              <a:rPr lang="en-CA" sz="2000" b="1" dirty="0"/>
              <a:t>The following should be prepared in advance of future relines:</a:t>
            </a:r>
          </a:p>
          <a:p>
            <a:pPr lvl="1"/>
            <a:r>
              <a:rPr lang="en-CA" sz="2000" dirty="0"/>
              <a:t>Prioritize </a:t>
            </a:r>
            <a:r>
              <a:rPr lang="en-CA" sz="2000" b="1" dirty="0"/>
              <a:t>preparation</a:t>
            </a:r>
            <a:r>
              <a:rPr lang="en-CA" sz="2000" dirty="0"/>
              <a:t>:</a:t>
            </a:r>
          </a:p>
          <a:p>
            <a:pPr lvl="2"/>
            <a:r>
              <a:rPr lang="en-CA" sz="1600" dirty="0"/>
              <a:t>Draining mill, critical parts / tools staged. Crew ready to work on the morning of the first day. 5 </a:t>
            </a:r>
          </a:p>
          <a:p>
            <a:pPr lvl="1"/>
            <a:r>
              <a:rPr lang="en-CA" sz="2000" b="1" dirty="0"/>
              <a:t>Load level</a:t>
            </a:r>
            <a:r>
              <a:rPr lang="en-CA" sz="2000" dirty="0"/>
              <a:t>: personnel are trained on setting the ideal load level. This pays dividends for inching throughout the project.</a:t>
            </a:r>
          </a:p>
          <a:p>
            <a:pPr lvl="1"/>
            <a:r>
              <a:rPr lang="en-CA" sz="2000" b="1" dirty="0"/>
              <a:t>Ownership</a:t>
            </a:r>
            <a:r>
              <a:rPr lang="en-CA" sz="2000" dirty="0"/>
              <a:t> of critical equipment: inch drive, adjust-a-</a:t>
            </a:r>
            <a:r>
              <a:rPr lang="en-CA" sz="2000" dirty="0" err="1"/>
              <a:t>veyor</a:t>
            </a:r>
            <a:r>
              <a:rPr lang="en-CA" sz="2000" dirty="0"/>
              <a:t>, thunderbolt.</a:t>
            </a:r>
          </a:p>
          <a:p>
            <a:pPr lvl="2"/>
            <a:r>
              <a:rPr lang="en-CA" sz="1600" dirty="0"/>
              <a:t>PMs completed in advance, critical spares available.</a:t>
            </a:r>
          </a:p>
          <a:p>
            <a:pPr lvl="1"/>
            <a:r>
              <a:rPr lang="en-CA" sz="2000" dirty="0"/>
              <a:t>Ensure efficient </a:t>
            </a:r>
            <a:r>
              <a:rPr lang="en-CA" sz="2000" b="1" dirty="0"/>
              <a:t>shift change</a:t>
            </a:r>
          </a:p>
          <a:p>
            <a:pPr lvl="2"/>
            <a:r>
              <a:rPr lang="en-CA" sz="1200" dirty="0"/>
              <a:t>Hot change if possible</a:t>
            </a:r>
          </a:p>
          <a:p>
            <a:pPr lvl="2"/>
            <a:r>
              <a:rPr lang="en-CA" sz="1200" dirty="0"/>
              <a:t>Stagger breaks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marL="457200" indent="-457200">
              <a:buFont typeface="+mj-lt"/>
              <a:buAutoNum type="arabicPeriod"/>
            </a:pPr>
            <a:endParaRPr lang="en-CA" sz="2000" dirty="0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2BF7CE2-E3AA-1915-209E-81471518C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CE40526-572D-2069-51E5-00181474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1748036"/>
            <a:ext cx="3530393" cy="470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9828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9495E-7092-D843-CDE3-CFAD3077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9CD9DF-C64E-636F-EFA2-8FF4005EB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B269F12-3BDF-0674-BCA2-8FB6920EC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DE0F8B-FFF9-CF90-ECBA-7BEEA4965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558E69-7184-FA63-A263-2B5EC1C9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4EE1B2-BB62-4C94-C2CC-7841D0D7D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340D3B1-5095-5157-EE98-73441632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AA7492-6BDD-922D-D003-90FA6714E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B0723-A560-28BA-0227-D0237E1C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2751001"/>
            <a:ext cx="3201366" cy="130735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</a:t>
            </a:r>
            <a:r>
              <a:rPr lang="en-CA" sz="4000" dirty="0" err="1">
                <a:solidFill>
                  <a:srgbClr val="FFFFFF"/>
                </a:solidFill>
              </a:rPr>
              <a:t>ummary</a:t>
            </a:r>
            <a:r>
              <a:rPr lang="en-CA" sz="4000" dirty="0">
                <a:solidFill>
                  <a:srgbClr val="FFFFFF"/>
                </a:solidFill>
              </a:rPr>
              <a:t> of </a:t>
            </a:r>
            <a:r>
              <a:rPr lang="en-CA" sz="4000" b="1" dirty="0">
                <a:solidFill>
                  <a:srgbClr val="FFFFFF"/>
                </a:solidFill>
              </a:rPr>
              <a:t>Major</a:t>
            </a:r>
            <a:r>
              <a:rPr lang="en-CA" sz="4000" dirty="0">
                <a:solidFill>
                  <a:srgbClr val="FFFFFF"/>
                </a:solidFill>
              </a:rPr>
              <a:t> Delays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442596-6320-EB1F-B42B-C46885088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68774"/>
              </p:ext>
            </p:extLst>
          </p:nvPr>
        </p:nvGraphicFramePr>
        <p:xfrm>
          <a:off x="4319198" y="848839"/>
          <a:ext cx="6685334" cy="51603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6587">
                  <a:extLst>
                    <a:ext uri="{9D8B030D-6E8A-4147-A177-3AD203B41FA5}">
                      <a16:colId xmlns:a16="http://schemas.microsoft.com/office/drawing/2014/main" val="440944898"/>
                    </a:ext>
                  </a:extLst>
                </a:gridCol>
                <a:gridCol w="894276">
                  <a:extLst>
                    <a:ext uri="{9D8B030D-6E8A-4147-A177-3AD203B41FA5}">
                      <a16:colId xmlns:a16="http://schemas.microsoft.com/office/drawing/2014/main" val="883209783"/>
                    </a:ext>
                  </a:extLst>
                </a:gridCol>
                <a:gridCol w="484895">
                  <a:extLst>
                    <a:ext uri="{9D8B030D-6E8A-4147-A177-3AD203B41FA5}">
                      <a16:colId xmlns:a16="http://schemas.microsoft.com/office/drawing/2014/main" val="513407235"/>
                    </a:ext>
                  </a:extLst>
                </a:gridCol>
                <a:gridCol w="1078192">
                  <a:extLst>
                    <a:ext uri="{9D8B030D-6E8A-4147-A177-3AD203B41FA5}">
                      <a16:colId xmlns:a16="http://schemas.microsoft.com/office/drawing/2014/main" val="425510269"/>
                    </a:ext>
                  </a:extLst>
                </a:gridCol>
                <a:gridCol w="3301384">
                  <a:extLst>
                    <a:ext uri="{9D8B030D-6E8A-4147-A177-3AD203B41FA5}">
                      <a16:colId xmlns:a16="http://schemas.microsoft.com/office/drawing/2014/main" val="623072902"/>
                    </a:ext>
                  </a:extLst>
                </a:gridCol>
              </a:tblGrid>
              <a:tr h="3050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DELAY </a:t>
                      </a:r>
                      <a:b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(HRS)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NOTES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extLst>
                  <a:ext uri="{0D108BD9-81ED-4DB2-BD59-A6C34878D82A}">
                    <a16:rowId xmlns:a16="http://schemas.microsoft.com/office/drawing/2014/main" val="3941308408"/>
                  </a:ext>
                </a:extLst>
              </a:tr>
              <a:tr h="331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2600655"/>
                  </a:ext>
                </a:extLst>
              </a:tr>
              <a:tr h="55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7393678"/>
                  </a:ext>
                </a:extLst>
              </a:tr>
              <a:tr h="4188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5599095"/>
                  </a:ext>
                </a:extLst>
              </a:tr>
              <a:tr h="55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6646982"/>
                  </a:ext>
                </a:extLst>
              </a:tr>
              <a:tr h="4188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563631"/>
                  </a:ext>
                </a:extLst>
              </a:tr>
              <a:tr h="55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88504931"/>
                  </a:ext>
                </a:extLst>
              </a:tr>
              <a:tr h="55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9438139"/>
                  </a:ext>
                </a:extLst>
              </a:tr>
              <a:tr h="5563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2212296"/>
                  </a:ext>
                </a:extLst>
              </a:tr>
              <a:tr h="4188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2097960"/>
                  </a:ext>
                </a:extLst>
              </a:tr>
              <a:tr h="4188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1040924"/>
                  </a:ext>
                </a:extLst>
              </a:tr>
            </a:tbl>
          </a:graphicData>
        </a:graphic>
      </p:graphicFrame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1D365DB4-5860-252D-0560-101F7F676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DD98-6D6F-EF42-C054-350F8ADF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FEB84A01-ED8D-2918-B14E-FF0EC789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91" y="3024718"/>
            <a:ext cx="4637124" cy="915912"/>
          </a:xfrm>
        </p:spPr>
        <p:txBody>
          <a:bodyPr/>
          <a:lstStyle/>
          <a:p>
            <a:r>
              <a:rPr lang="en-US" sz="3200" dirty="0"/>
              <a:t>phase level delay breakdown</a:t>
            </a:r>
          </a:p>
        </p:txBody>
      </p:sp>
      <p:pic>
        <p:nvPicPr>
          <p:cNvPr id="13" name="Picture Placeholder 12" descr="A person in a safety vest&#10;&#10;Description automatically generated">
            <a:extLst>
              <a:ext uri="{FF2B5EF4-FFF2-40B4-BE49-F238E27FC236}">
                <a16:creationId xmlns:a16="http://schemas.microsoft.com/office/drawing/2014/main" id="{124EB0AB-FB9B-D9E6-E6E5-1C0852EC9C5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8042063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07048-7943-90A6-79AD-7E6266E11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0BAFF-BA15-F46D-63A2-98AE27C8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Reline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441E-32FC-8999-EFC4-EF3A222D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5459" y="1951266"/>
            <a:ext cx="6789444" cy="1319622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CA" sz="2000" dirty="0">
                <a:solidFill>
                  <a:schemeClr val="tx2"/>
                </a:solidFill>
              </a:rPr>
              <a:t>Each reline phase and their delays:</a:t>
            </a:r>
            <a:endParaRPr lang="en-CA" sz="20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CA" sz="2000" dirty="0"/>
          </a:p>
          <a:p>
            <a:pPr marL="457200" lvl="1" indent="0">
              <a:buNone/>
            </a:pPr>
            <a:endParaRPr lang="en-CA" sz="2000" dirty="0"/>
          </a:p>
          <a:p>
            <a:pPr marL="457200" indent="-457200">
              <a:buFont typeface="+mj-lt"/>
              <a:buAutoNum type="arabicPeriod"/>
            </a:pPr>
            <a:endParaRPr lang="en-CA" sz="2000" dirty="0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CA987EC8-FF70-9B91-4346-B3068D5D7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D980CF-9894-F89C-38E3-0614AFB1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329215"/>
              </p:ext>
            </p:extLst>
          </p:nvPr>
        </p:nvGraphicFramePr>
        <p:xfrm>
          <a:off x="659130" y="2651760"/>
          <a:ext cx="10873741" cy="276997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00801">
                  <a:extLst>
                    <a:ext uri="{9D8B030D-6E8A-4147-A177-3AD203B41FA5}">
                      <a16:colId xmlns:a16="http://schemas.microsoft.com/office/drawing/2014/main" val="3372526113"/>
                    </a:ext>
                  </a:extLst>
                </a:gridCol>
                <a:gridCol w="2591115">
                  <a:extLst>
                    <a:ext uri="{9D8B030D-6E8A-4147-A177-3AD203B41FA5}">
                      <a16:colId xmlns:a16="http://schemas.microsoft.com/office/drawing/2014/main" val="252896377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986748812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4171127926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215296769"/>
                    </a:ext>
                  </a:extLst>
                </a:gridCol>
              </a:tblGrid>
              <a:tr h="7582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PHASE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PHASE DELAY </a:t>
                      </a:r>
                    </a:p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(HRS)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CUMULATIVE DELAY</a:t>
                      </a:r>
                    </a:p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(HRS)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RATIONALE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3688404"/>
                  </a:ext>
                </a:extLst>
              </a:tr>
              <a:tr h="402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8244422"/>
                  </a:ext>
                </a:extLst>
              </a:tr>
              <a:tr h="402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59525257"/>
                  </a:ext>
                </a:extLst>
              </a:tr>
              <a:tr h="402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6215558"/>
                  </a:ext>
                </a:extLst>
              </a:tr>
              <a:tr h="402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726217"/>
                  </a:ext>
                </a:extLst>
              </a:tr>
              <a:tr h="402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86473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37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6BA13-76F6-FF4B-2D06-62B75537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0FF567C-E432-4A5E-AC23-AA477FECC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F4C4A8-2B29-ACA5-2115-771192166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F587FF-AD5A-2CFD-69A2-5787E6A13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4FF11B-581C-8A67-5140-FA7E23AA1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7B4C5F-8536-433F-0D90-789F74A9D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154FC-3FCA-CABF-4DE1-904CA9F1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Reline Progress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2A80A76B-850F-068F-C2B0-C8E390606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AEBBF-3BBF-CDEB-CC1D-CE44F3E6A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900468-C699-D89E-2601-2A4DB7809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9803F-34CB-A4A4-89D9-89DBE4848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E611DC-9005-B41F-9C51-3A79C24FC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B0B98E-D63F-3739-FE89-D3C229B1C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A30EFE-CED3-21AA-8293-0BD1FF232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A5D8-ADA6-5A10-C06B-61DDF72C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Reline Phases &amp; Their Delays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151C70D0-7BB9-8DE5-7074-0F9FFBC3A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8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F2BF-B077-EC30-B2DE-6408ED2C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5CC9614A-D55D-D91D-AF62-4413F67B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91" y="3161544"/>
            <a:ext cx="4637124" cy="534912"/>
          </a:xfrm>
        </p:spPr>
        <p:txBody>
          <a:bodyPr/>
          <a:lstStyle/>
          <a:p>
            <a:r>
              <a:rPr lang="en-US" sz="3200" dirty="0"/>
              <a:t>INCHING</a:t>
            </a:r>
          </a:p>
        </p:txBody>
      </p:sp>
      <p:pic>
        <p:nvPicPr>
          <p:cNvPr id="13" name="Picture Placeholder 12" descr="A person in a safety vest&#10;&#10;Description automatically generated">
            <a:extLst>
              <a:ext uri="{FF2B5EF4-FFF2-40B4-BE49-F238E27FC236}">
                <a16:creationId xmlns:a16="http://schemas.microsoft.com/office/drawing/2014/main" id="{C71547FA-8B29-F899-54DC-32DD58238ED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42374514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A36C6-0307-DBD8-54F5-0AE4A97E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04A5CE3-0C8B-A9C5-33B6-6B9A4E89C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D194A4-DC3B-6F40-9EF2-2139AB7FF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42B3D1-0D9E-2235-E7CF-4490D846F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94676A-6FC1-8DB3-FC39-869C8815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7A6852-E3C8-8D58-0902-1F9A721AB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598FE-752B-667D-C136-4BA39B96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Inching Performance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9E049A77-4FD1-01A9-282C-72F4BBAAC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81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719EA-F6BE-736C-AF40-0C96ED8B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E0BAA0-0D1F-6CE2-4499-C252A6D2F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7A552A-1283-99CE-44DE-B4DEC2EF9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664D09-5DF4-D21C-1AA5-E145CCC9B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44B527-6ACC-B393-8F05-9D61A7649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F1542-F138-956A-422B-156915A03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89E11-035D-F336-3428-F3690D83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</a:rPr>
              <a:t>Time to First Inch – Day vs Night</a:t>
            </a: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6F5CB00E-5DFB-8BA0-90BA-52767111E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18E8CCE-D310-1536-B836-C488108108F5}"/>
              </a:ext>
            </a:extLst>
          </p:cNvPr>
          <p:cNvSpPr/>
          <p:nvPr/>
        </p:nvSpPr>
        <p:spPr>
          <a:xfrm>
            <a:off x="1741574" y="6122493"/>
            <a:ext cx="8353425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F308F-54C7-971B-1ECE-D2DDA6FCC39A}"/>
              </a:ext>
            </a:extLst>
          </p:cNvPr>
          <p:cNvSpPr txBox="1"/>
          <p:nvPr/>
        </p:nvSpPr>
        <p:spPr>
          <a:xfrm>
            <a:off x="1834575" y="6118547"/>
            <a:ext cx="835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Time to first inch was measured as the difference between the shift start time (7:00 AM days, 7:00PM nights) and the first time the inch drive starts </a:t>
            </a:r>
            <a:r>
              <a:rPr lang="en-CA" i="1" dirty="0">
                <a:solidFill>
                  <a:schemeClr val="bg1"/>
                </a:solidFill>
              </a:rPr>
              <a:t>for each shift</a:t>
            </a:r>
            <a:r>
              <a:rPr lang="en-CA" dirty="0">
                <a:solidFill>
                  <a:schemeClr val="bg1"/>
                </a:solidFill>
              </a:rPr>
              <a:t>.</a:t>
            </a:r>
            <a:r>
              <a:rPr lang="en-CA" dirty="0"/>
              <a:t> </a:t>
            </a:r>
          </a:p>
        </p:txBody>
      </p:sp>
      <p:pic>
        <p:nvPicPr>
          <p:cNvPr id="18" name="Graphic 17" descr="Information outline">
            <a:extLst>
              <a:ext uri="{FF2B5EF4-FFF2-40B4-BE49-F238E27FC236}">
                <a16:creationId xmlns:a16="http://schemas.microsoft.com/office/drawing/2014/main" id="{75DEFC88-5D08-947A-F4E4-313EDC176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676" y="59881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861D-A88A-0435-DCF9-1740E3CB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528494F-500B-3C34-A178-FF65163C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91" y="3161543"/>
            <a:ext cx="4637124" cy="920599"/>
          </a:xfrm>
        </p:spPr>
        <p:txBody>
          <a:bodyPr/>
          <a:lstStyle/>
          <a:p>
            <a:r>
              <a:rPr lang="en-US" sz="3200" dirty="0"/>
              <a:t>Detailed delay analysis</a:t>
            </a:r>
          </a:p>
        </p:txBody>
      </p:sp>
      <p:pic>
        <p:nvPicPr>
          <p:cNvPr id="13" name="Picture Placeholder 12" descr="A person in a safety vest&#10;&#10;Description automatically generated">
            <a:extLst>
              <a:ext uri="{FF2B5EF4-FFF2-40B4-BE49-F238E27FC236}">
                <a16:creationId xmlns:a16="http://schemas.microsoft.com/office/drawing/2014/main" id="{EA27BE6D-1B93-D4BD-4BEB-69AF282F025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088058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23194-BBE4-B39E-2624-5EF95E8E5DAE}"/>
              </a:ext>
            </a:extLst>
          </p:cNvPr>
          <p:cNvSpPr txBox="1"/>
          <p:nvPr/>
        </p:nvSpPr>
        <p:spPr>
          <a:xfrm>
            <a:off x="699712" y="248038"/>
            <a:ext cx="11040003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&lt;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phase_num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&gt;: &lt;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phase_name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&gt; - Timeline</a:t>
            </a:r>
          </a:p>
        </p:txBody>
      </p: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C73ADF01-EE61-E643-BB98-3BB24BFB4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5988458"/>
            <a:ext cx="939848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1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26D67-877F-3E8A-94E9-7E76EA9C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8F01904-0140-5610-45B6-AE4BB19BF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0C5B5F-42B7-4308-272F-5DAEEA6AE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CF0679-98D4-B535-4211-745501B81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C3BA45-B736-1E34-1539-060F65D27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D37514E-9BA3-FE79-386D-FF9D2D2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E6A7F-917D-4D8B-79B0-4D70DABF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1901956"/>
            <a:ext cx="2880828" cy="307190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&lt;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phase_num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&gt;: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CA" sz="4000" b="1" dirty="0">
                <a:solidFill>
                  <a:schemeClr val="bg1"/>
                </a:solidFill>
              </a:rPr>
              <a:t>&lt;</a:t>
            </a:r>
            <a:r>
              <a:rPr lang="en-CA" sz="4000" b="1" dirty="0" err="1">
                <a:solidFill>
                  <a:schemeClr val="bg1"/>
                </a:solidFill>
              </a:rPr>
              <a:t>phase_name</a:t>
            </a:r>
            <a:r>
              <a:rPr lang="en-CA" sz="4000" b="1" dirty="0">
                <a:solidFill>
                  <a:schemeClr val="bg1"/>
                </a:solidFill>
              </a:rPr>
              <a:t>&gt;</a:t>
            </a:r>
            <a:br>
              <a:rPr lang="en-CA" sz="40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Delayed Tasks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A8D878-BF0B-B7B5-5ACC-0A4F31771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914340"/>
              </p:ext>
            </p:extLst>
          </p:nvPr>
        </p:nvGraphicFramePr>
        <p:xfrm>
          <a:off x="4601043" y="2564889"/>
          <a:ext cx="6545256" cy="172822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21639">
                  <a:extLst>
                    <a:ext uri="{9D8B030D-6E8A-4147-A177-3AD203B41FA5}">
                      <a16:colId xmlns:a16="http://schemas.microsoft.com/office/drawing/2014/main" val="440944898"/>
                    </a:ext>
                  </a:extLst>
                </a:gridCol>
                <a:gridCol w="859264">
                  <a:extLst>
                    <a:ext uri="{9D8B030D-6E8A-4147-A177-3AD203B41FA5}">
                      <a16:colId xmlns:a16="http://schemas.microsoft.com/office/drawing/2014/main" val="883209783"/>
                    </a:ext>
                  </a:extLst>
                </a:gridCol>
                <a:gridCol w="774398">
                  <a:extLst>
                    <a:ext uri="{9D8B030D-6E8A-4147-A177-3AD203B41FA5}">
                      <a16:colId xmlns:a16="http://schemas.microsoft.com/office/drawing/2014/main" val="1242211455"/>
                    </a:ext>
                  </a:extLst>
                </a:gridCol>
                <a:gridCol w="774398">
                  <a:extLst>
                    <a:ext uri="{9D8B030D-6E8A-4147-A177-3AD203B41FA5}">
                      <a16:colId xmlns:a16="http://schemas.microsoft.com/office/drawing/2014/main" val="513407235"/>
                    </a:ext>
                  </a:extLst>
                </a:gridCol>
                <a:gridCol w="2015557">
                  <a:extLst>
                    <a:ext uri="{9D8B030D-6E8A-4147-A177-3AD203B41FA5}">
                      <a16:colId xmlns:a16="http://schemas.microsoft.com/office/drawing/2014/main" val="623072902"/>
                    </a:ext>
                  </a:extLst>
                </a:gridCol>
              </a:tblGrid>
              <a:tr h="2871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NAME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</a:t>
                      </a:r>
                      <a:b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ACTUAL</a:t>
                      </a:r>
                      <a:b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DELAY </a:t>
                      </a:r>
                      <a:b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(HRS)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NOTES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extLst>
                  <a:ext uri="{0D108BD9-81ED-4DB2-BD59-A6C34878D82A}">
                    <a16:rowId xmlns:a16="http://schemas.microsoft.com/office/drawing/2014/main" val="3941308408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Delay - waiting for load level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Challenges getting load level set. Even with delays, the load level was arguably too high, which hindered progress moving forward.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2600655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Delay - scanning mill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Scanning of the mill was not factored into the original schedule. This was an additional 0.3-hour delay.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7393678"/>
                  </a:ext>
                </a:extLst>
              </a:tr>
            </a:tbl>
          </a:graphicData>
        </a:graphic>
      </p:graphicFrame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3E5030F-8D63-6FB3-A837-CF8479AFC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676" y="5988458"/>
            <a:ext cx="939848" cy="584230"/>
          </a:xfrm>
          <a:prstGeom prst="rect">
            <a:avLst/>
          </a:prstGeom>
        </p:spPr>
      </p:pic>
      <p:pic>
        <p:nvPicPr>
          <p:cNvPr id="6" name="Graphic 5" descr="Gantt Chart with solid fill">
            <a:extLst>
              <a:ext uri="{FF2B5EF4-FFF2-40B4-BE49-F238E27FC236}">
                <a16:creationId xmlns:a16="http://schemas.microsoft.com/office/drawing/2014/main" id="{4AE2EC0A-BC8D-9EA2-B3AA-D131AEEA1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5808" y="90682"/>
            <a:ext cx="914400" cy="9144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B83B92-C919-7928-A35B-6E174B3C5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29842"/>
              </p:ext>
            </p:extLst>
          </p:nvPr>
        </p:nvGraphicFramePr>
        <p:xfrm>
          <a:off x="5515443" y="177042"/>
          <a:ext cx="5630856" cy="731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15428">
                  <a:extLst>
                    <a:ext uri="{9D8B030D-6E8A-4147-A177-3AD203B41FA5}">
                      <a16:colId xmlns:a16="http://schemas.microsoft.com/office/drawing/2014/main" val="1106712634"/>
                    </a:ext>
                  </a:extLst>
                </a:gridCol>
                <a:gridCol w="2815428">
                  <a:extLst>
                    <a:ext uri="{9D8B030D-6E8A-4147-A177-3AD203B41FA5}">
                      <a16:colId xmlns:a16="http://schemas.microsoft.com/office/drawing/2014/main" val="3174406447"/>
                    </a:ext>
                  </a:extLst>
                </a:gridCol>
              </a:tblGrid>
              <a:tr h="29211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Planned Duration (hrs)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Actual Duration (hrs)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74176"/>
                  </a:ext>
                </a:extLst>
              </a:tr>
              <a:tr h="292115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6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315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A1DD-B37B-3257-F2CF-8D5B7158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569D2253-C5F4-24D6-E646-4539E819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91" y="2055888"/>
            <a:ext cx="4637124" cy="1532357"/>
          </a:xfrm>
        </p:spPr>
        <p:txBody>
          <a:bodyPr/>
          <a:lstStyle/>
          <a:p>
            <a:r>
              <a:rPr lang="en-US" sz="3200" dirty="0"/>
              <a:t>Appendix</a:t>
            </a:r>
          </a:p>
        </p:txBody>
      </p:sp>
      <p:pic>
        <p:nvPicPr>
          <p:cNvPr id="13" name="Picture Placeholder 12" descr="A person in a safety vest&#10;&#10;Description automatically generated">
            <a:extLst>
              <a:ext uri="{FF2B5EF4-FFF2-40B4-BE49-F238E27FC236}">
                <a16:creationId xmlns:a16="http://schemas.microsoft.com/office/drawing/2014/main" id="{AAA28999-FA13-03E7-9634-42AF347CCA7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348963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44A0F-B607-77E0-9500-477809A4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5A598D-03CE-133D-CD15-9E4825D8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8FEE66-FEEC-BE79-CFC4-4ED2B8CD1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9AAE2B-AE38-D82C-9121-E56CB377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BF364-9382-1298-C469-C673299B5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299398A9-565C-B495-25FC-18A9223B1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676" y="6095335"/>
            <a:ext cx="939848" cy="5842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15D635-E03A-E0EF-8146-28BCFF0F3B71}"/>
              </a:ext>
            </a:extLst>
          </p:cNvPr>
          <p:cNvSpPr txBox="1"/>
          <p:nvPr/>
        </p:nvSpPr>
        <p:spPr>
          <a:xfrm>
            <a:off x="699712" y="248038"/>
            <a:ext cx="1019688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Delays by Type – Raw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ACDDE1-B056-DA1C-49FA-6B3CC6425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213225"/>
              </p:ext>
            </p:extLst>
          </p:nvPr>
        </p:nvGraphicFramePr>
        <p:xfrm>
          <a:off x="3652784" y="1940853"/>
          <a:ext cx="4886432" cy="297629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51627">
                  <a:extLst>
                    <a:ext uri="{9D8B030D-6E8A-4147-A177-3AD203B41FA5}">
                      <a16:colId xmlns:a16="http://schemas.microsoft.com/office/drawing/2014/main" val="440944898"/>
                    </a:ext>
                  </a:extLst>
                </a:gridCol>
                <a:gridCol w="614390">
                  <a:extLst>
                    <a:ext uri="{9D8B030D-6E8A-4147-A177-3AD203B41FA5}">
                      <a16:colId xmlns:a16="http://schemas.microsoft.com/office/drawing/2014/main" val="883209783"/>
                    </a:ext>
                  </a:extLst>
                </a:gridCol>
                <a:gridCol w="986815">
                  <a:extLst>
                    <a:ext uri="{9D8B030D-6E8A-4147-A177-3AD203B41FA5}">
                      <a16:colId xmlns:a16="http://schemas.microsoft.com/office/drawing/2014/main" val="124221145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513407235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623072902"/>
                    </a:ext>
                  </a:extLst>
                </a:gridCol>
              </a:tblGrid>
              <a:tr h="2871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DELAY TYPE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FREQUENCY OF OCCURRENCE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DELAY (HRS)</a:t>
                      </a:r>
                    </a:p>
                  </a:txBody>
                  <a:tcPr marL="6103" marR="6103" marT="610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CA" sz="1200" b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PERCENTAGE OF TOTAL DELAY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103" marR="6103" marT="6103" marB="0" anchor="ctr"/>
                </a:tc>
                <a:extLst>
                  <a:ext uri="{0D108BD9-81ED-4DB2-BD59-A6C34878D82A}">
                    <a16:rowId xmlns:a16="http://schemas.microsoft.com/office/drawing/2014/main" val="3941308408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2600655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Found Work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7393678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Preparation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85599095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 Failure / Unavailability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6646982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Safety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563631"/>
                  </a:ext>
                </a:extLst>
              </a:tr>
              <a:tr h="4035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Manpower Shortage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C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8504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77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6792</TotalTime>
  <Words>420</Words>
  <Application>Microsoft Office PowerPoint</Application>
  <PresentationFormat>Widescreen</PresentationFormat>
  <Paragraphs>85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Arial Black</vt:lpstr>
      <vt:lpstr>Calibri</vt:lpstr>
      <vt:lpstr>Office Theme</vt:lpstr>
      <vt:lpstr>&lt;PROJECT_TITLE&gt; report &lt;MONTH&gt; &lt;YEAR&gt;</vt:lpstr>
      <vt:lpstr>&lt;PROJECT_TITLE&gt; Report – &lt;MONTH&gt; &lt;YEAR&gt;</vt:lpstr>
      <vt:lpstr>High Level Summary of Delays</vt:lpstr>
      <vt:lpstr>PowerPoint Presentation</vt:lpstr>
      <vt:lpstr>Recommendations</vt:lpstr>
      <vt:lpstr>Summary of Major Delays</vt:lpstr>
      <vt:lpstr>phase level delay breakdown</vt:lpstr>
      <vt:lpstr>Reline Phases</vt:lpstr>
      <vt:lpstr>Reline Progress</vt:lpstr>
      <vt:lpstr>Reline Phases &amp; Their Delays</vt:lpstr>
      <vt:lpstr>INCHING</vt:lpstr>
      <vt:lpstr>Inching Performance</vt:lpstr>
      <vt:lpstr>Time to First Inch – Day vs Night</vt:lpstr>
      <vt:lpstr>Detailed delay analysis</vt:lpstr>
      <vt:lpstr>PowerPoint Presentation</vt:lpstr>
      <vt:lpstr>Phase &lt;phase_num&gt;: &lt;phase_name&gt; Delayed Tasks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Jacoby</dc:creator>
  <cp:lastModifiedBy>Josh Jacoby</cp:lastModifiedBy>
  <cp:revision>69</cp:revision>
  <dcterms:created xsi:type="dcterms:W3CDTF">2025-11-19T21:57:14Z</dcterms:created>
  <dcterms:modified xsi:type="dcterms:W3CDTF">2026-03-04T17:35:36Z</dcterms:modified>
</cp:coreProperties>
</file>